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677" y="72"/>
      </p:cViewPr>
      <p:guideLst>
        <p:guide orient="horz" pos="1968"/>
        <p:guide pos="408"/>
        <p:guide orient="horz" pos="3912"/>
        <p:guide pos="7272"/>
        <p:guide orient="horz" pos="1661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6" y="3591763"/>
            <a:ext cx="9382443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2400" dirty="0">
                <a:solidFill>
                  <a:schemeClr val="tx1"/>
                </a:solidFill>
              </a:rPr>
              <a:t>Student Name: Shaik Awaz ali</a:t>
            </a:r>
          </a:p>
          <a:p>
            <a:pPr lvl="0"/>
            <a:r>
              <a:rPr lang="en-IN" sz="2400" dirty="0">
                <a:solidFill>
                  <a:schemeClr val="tx1"/>
                </a:solidFill>
              </a:rPr>
              <a:t>College Name: Amrita Sai Institute of Science and Technology</a:t>
            </a:r>
          </a:p>
          <a:p>
            <a:pPr algn="r"/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6" y="2794001"/>
            <a:ext cx="10868343" cy="743448"/>
          </a:xfrm>
        </p:spPr>
        <p:txBody>
          <a:bodyPr>
            <a:noAutofit/>
          </a:bodyPr>
          <a:lstStyle/>
          <a:p>
            <a:r>
              <a:rPr lang="en-GB" sz="3200" dirty="0"/>
              <a:t>Project Title -</a:t>
            </a:r>
            <a:r>
              <a:rPr lang="en-IN" sz="3200" dirty="0"/>
              <a:t>Seasonal Agriculture Performance Analysis 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6" y="4585427"/>
            <a:ext cx="89227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AICTE STU ID</a:t>
            </a:r>
            <a:r>
              <a:rPr lang="en-IN" b="1" dirty="0"/>
              <a:t>:</a:t>
            </a:r>
            <a:r>
              <a:rPr lang="en-IN" sz="3200" b="1" dirty="0"/>
              <a:t>STU674a975918c331732941657</a:t>
            </a:r>
          </a:p>
          <a:p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0"/>
            <a:r>
              <a:rPr lang="en-IN" b="1" dirty="0"/>
              <a:t>Seasonal Variability:</a:t>
            </a:r>
            <a:r>
              <a:rPr lang="en-IN" dirty="0"/>
              <a:t> Farming outcomes vary across seasons due to changing rainfall, temperatures, soil moisture, and market dynamics. </a:t>
            </a:r>
          </a:p>
          <a:p>
            <a:pPr lvl="0"/>
            <a:r>
              <a:rPr lang="en-IN" b="1" dirty="0"/>
              <a:t>Data Complexity:</a:t>
            </a:r>
            <a:r>
              <a:rPr lang="en-IN" dirty="0"/>
              <a:t> Raw agricultural datasets obscure key relationships between water allocation, pest risks, crop yield, and overall farm margins. </a:t>
            </a:r>
          </a:p>
          <a:p>
            <a:pPr lvl="0"/>
            <a:r>
              <a:rPr lang="en-IN" b="1" dirty="0"/>
              <a:t>Objective:</a:t>
            </a:r>
            <a:r>
              <a:rPr lang="en-IN" dirty="0"/>
              <a:t> </a:t>
            </a:r>
            <a:r>
              <a:rPr lang="en-IN" dirty="0" err="1"/>
              <a:t>Analyze</a:t>
            </a:r>
            <a:r>
              <a:rPr lang="en-IN" dirty="0"/>
              <a:t> 4,000 multi-region farm records to identify seasonal performance patterns, evaluate resource efficiency, and recommend data-driven farming strategies.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Autofit/>
          </a:bodyPr>
          <a:lstStyle/>
          <a:p>
            <a:r>
              <a:rPr lang="en-IN" sz="4000" dirty="0"/>
              <a:t>Project Description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1375" y="5452929"/>
            <a:ext cx="3706253" cy="2960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B33C35-B6E6-C769-1143-DFFB6DA065B6}"/>
                  </a:ext>
                </a:extLst>
              </p:cNvPr>
              <p:cNvSpPr txBox="1"/>
              <p:nvPr/>
            </p:nvSpPr>
            <p:spPr>
              <a:xfrm>
                <a:off x="741872" y="1697669"/>
                <a:ext cx="10049773" cy="3454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Dataset Scope:</a:t>
                </a:r>
                <a:r>
                  <a:rPr lang="en-IN" dirty="0"/>
                  <a:t> Evaluated 4,000 farm records spanning 8 Indian states, 8 crops, 3 cropping seasons (</a:t>
                </a:r>
                <a:r>
                  <a:rPr lang="en-IN" i="1" dirty="0"/>
                  <a:t>Kharif</a:t>
                </a:r>
                <a:r>
                  <a:rPr lang="en-IN" dirty="0"/>
                  <a:t>, </a:t>
                </a:r>
                <a:r>
                  <a:rPr lang="en-IN" i="1" dirty="0"/>
                  <a:t>Rabi</a:t>
                </a:r>
                <a:r>
                  <a:rPr lang="en-IN" dirty="0"/>
                  <a:t>, </a:t>
                </a:r>
                <a:r>
                  <a:rPr lang="en-IN" i="1" dirty="0"/>
                  <a:t>Zaid</a:t>
                </a:r>
                <a:r>
                  <a:rPr lang="en-IN" dirty="0"/>
                  <a:t>), and 4 irrigation methods. </a:t>
                </a:r>
              </a:p>
              <a:p>
                <a:pPr lvl="0"/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Data Cleaning:</a:t>
                </a:r>
                <a:r>
                  <a:rPr lang="en-IN" dirty="0"/>
                  <a:t> Identified missing values in continuous variables (</a:t>
                </a:r>
                <a:r>
                  <a:rPr lang="en-IN" dirty="0" err="1"/>
                  <a:t>Rainfall_mm</a:t>
                </a:r>
                <a:r>
                  <a:rPr lang="en-IN" dirty="0"/>
                  <a:t>: 48, </a:t>
                </a:r>
                <a:r>
                  <a:rPr lang="en-IN" dirty="0" err="1"/>
                  <a:t>Soil_Moisture_pct</a:t>
                </a:r>
                <a:r>
                  <a:rPr lang="en-IN" dirty="0"/>
                  <a:t>: 40, </a:t>
                </a:r>
                <a:r>
                  <a:rPr lang="en-IN" dirty="0" err="1"/>
                  <a:t>Yield_Tonnes_Ha</a:t>
                </a:r>
                <a:r>
                  <a:rPr lang="en-IN" dirty="0"/>
                  <a:t>: 32) and applied median imputation grouped by crop type. </a:t>
                </a:r>
              </a:p>
              <a:p>
                <a:pPr lvl="0"/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Key Analytical Dimensions:</a:t>
                </a:r>
              </a:p>
              <a:p>
                <a:pPr lvl="0"/>
                <a:r>
                  <a:rPr lang="en-IN" b="1" dirty="0"/>
                  <a:t>    </a:t>
                </a:r>
                <a:r>
                  <a:rPr lang="en-IN" dirty="0"/>
                  <a:t>Cross-seasonal crop yield and financial return evaluations. </a:t>
                </a:r>
              </a:p>
              <a:p>
                <a:pPr lvl="0"/>
                <a:r>
                  <a:rPr lang="en-IN" dirty="0"/>
                  <a:t>    Irrigation water efficiency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 i="0"/>
                      <m:t>Tonnes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/1,000 </m:t>
                    </m:r>
                    <m:sSup>
                      <m:sSupPr>
                        <m:ctrlPr>
                          <a:rPr lang="en-IN" sz="2000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2000" i="0"/>
                          <m:t>m</m:t>
                        </m:r>
                      </m:e>
                      <m:sup>
                        <m:r>
                          <a:rPr lang="en-IN" sz="200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) across Drip, Flood, Sprinkler, and                Rainfed setups. </a:t>
                </a:r>
              </a:p>
              <a:p>
                <a:pPr lvl="0"/>
                <a:r>
                  <a:rPr lang="en-IN" dirty="0"/>
                  <a:t>   Disease/pest risk exposure and climate feature correlations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CB33C35-B6E6-C769-1143-DFFB6DA06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872" y="1697669"/>
                <a:ext cx="10049773" cy="3454087"/>
              </a:xfrm>
              <a:prstGeom prst="rect">
                <a:avLst/>
              </a:prstGeom>
              <a:blipFill>
                <a:blip r:embed="rId4"/>
                <a:stretch>
                  <a:fillRect l="-546" t="-1058" r="-789" b="-17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b="1" dirty="0"/>
              <a:t>Farmers &amp; Local Agricultural Producers:</a:t>
            </a:r>
            <a:r>
              <a:rPr lang="en-IN" dirty="0"/>
              <a:t> Guidance on optimal crop selection per season, resource management, and profit optimization. </a:t>
            </a:r>
          </a:p>
          <a:p>
            <a:pPr lvl="0"/>
            <a:r>
              <a:rPr lang="en-IN" b="1" dirty="0"/>
              <a:t>Agronomists &amp; Farm Advisors:</a:t>
            </a:r>
            <a:r>
              <a:rPr lang="en-IN" dirty="0"/>
              <a:t> Empirical data on soil moisture retention, fertilizer responsiveness, and seasonal disease/pest thresholds. </a:t>
            </a:r>
          </a:p>
          <a:p>
            <a:pPr lvl="0"/>
            <a:r>
              <a:rPr lang="en-IN" b="1" dirty="0"/>
              <a:t>Policy Makers &amp; Government Officials:</a:t>
            </a:r>
            <a:r>
              <a:rPr lang="en-IN" dirty="0"/>
              <a:t> Insights for targeted irrigation subsidies (e.g., drip adoption), seasonal credit planning, and crop support pricing. </a:t>
            </a:r>
          </a:p>
          <a:p>
            <a:pPr lvl="0"/>
            <a:r>
              <a:rPr lang="en-IN" b="1" dirty="0"/>
              <a:t>Agri-Tech Companies:</a:t>
            </a:r>
            <a:r>
              <a:rPr lang="en-IN" dirty="0"/>
              <a:t> Predictive models for input supply chain management and seasonal yield forecasting. </a:t>
            </a:r>
          </a:p>
          <a:p>
            <a:pPr algn="just">
              <a:lnSpc>
                <a:spcPct val="150000"/>
              </a:lnSpc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0"/>
            <a:r>
              <a:rPr lang="en-IN" b="1" dirty="0"/>
              <a:t>Language:</a:t>
            </a:r>
            <a:r>
              <a:rPr lang="en-IN" dirty="0"/>
              <a:t> Python 3.x </a:t>
            </a:r>
          </a:p>
          <a:p>
            <a:pPr lvl="0"/>
            <a:r>
              <a:rPr lang="en-IN" b="1" dirty="0"/>
              <a:t>Data Manipulation &amp; Analysis:</a:t>
            </a:r>
            <a:r>
              <a:rPr lang="en-IN" dirty="0"/>
              <a:t> Pandas, NumPy </a:t>
            </a:r>
          </a:p>
          <a:p>
            <a:pPr lvl="0"/>
            <a:r>
              <a:rPr lang="en-IN" b="1" dirty="0"/>
              <a:t>Data Visualization:</a:t>
            </a:r>
            <a:r>
              <a:rPr lang="en-IN" dirty="0"/>
              <a:t> Matplotlib, Seaborn, </a:t>
            </a:r>
            <a:r>
              <a:rPr lang="en-IN" dirty="0" err="1"/>
              <a:t>Plotly</a:t>
            </a:r>
            <a:r>
              <a:rPr lang="en-IN" dirty="0"/>
              <a:t> Express </a:t>
            </a:r>
          </a:p>
          <a:p>
            <a:pPr lvl="0"/>
            <a:r>
              <a:rPr lang="en-IN" b="1" dirty="0"/>
              <a:t>Development Environment:</a:t>
            </a:r>
            <a:r>
              <a:rPr lang="en-IN" dirty="0"/>
              <a:t> Jupyter Notebook </a:t>
            </a:r>
          </a:p>
          <a:p>
            <a:pPr lvl="0"/>
            <a:r>
              <a:rPr lang="en-IN" b="1" dirty="0"/>
              <a:t>Version Control:</a:t>
            </a:r>
            <a:r>
              <a:rPr lang="en-IN" dirty="0"/>
              <a:t> GitHub 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EFB2D2-1079-FB83-1781-50D47DB0E50D}"/>
              </a:ext>
            </a:extLst>
          </p:cNvPr>
          <p:cNvSpPr txBox="1"/>
          <p:nvPr/>
        </p:nvSpPr>
        <p:spPr>
          <a:xfrm>
            <a:off x="886420" y="1941449"/>
            <a:ext cx="1106979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Kharif Season (Monsoon):</a:t>
            </a:r>
            <a:r>
              <a:rPr lang="en-IN" sz="2000" dirty="0"/>
              <a:t> Highest average crop yield (</a:t>
            </a:r>
            <a:r>
              <a:rPr lang="en-IN" sz="2000" b="1" dirty="0"/>
              <a:t>5.63 t/ha</a:t>
            </a:r>
            <a:r>
              <a:rPr lang="en-IN" sz="2000" dirty="0"/>
              <a:t>) and profit (</a:t>
            </a:r>
            <a:r>
              <a:rPr lang="en-IN" sz="2000" b="1" dirty="0"/>
              <a:t>₹178,914.65 / farm</a:t>
            </a:r>
            <a:r>
              <a:rPr lang="en-IN" sz="2000" dirty="0"/>
              <a:t>), accompanied by elevated disease/pest risk (</a:t>
            </a:r>
            <a:r>
              <a:rPr lang="en-IN" sz="2000" b="1" dirty="0"/>
              <a:t>54.47%</a:t>
            </a:r>
            <a:r>
              <a:rPr lang="en-IN" sz="2000" dirty="0"/>
              <a:t>) due to high rainfall and humidity.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Rabi Season (Winter):</a:t>
            </a:r>
            <a:r>
              <a:rPr lang="en-IN" sz="2000" dirty="0"/>
              <a:t> Stable yield (</a:t>
            </a:r>
            <a:r>
              <a:rPr lang="en-IN" sz="2000" b="1" dirty="0"/>
              <a:t>5.10 t/ha</a:t>
            </a:r>
            <a:r>
              <a:rPr lang="en-IN" sz="2000" dirty="0"/>
              <a:t>) and positive returns (</a:t>
            </a:r>
            <a:r>
              <a:rPr lang="en-IN" sz="2000" b="1" dirty="0"/>
              <a:t>₹87,689.47 / farm</a:t>
            </a:r>
            <a:r>
              <a:rPr lang="en-IN" sz="2000" dirty="0"/>
              <a:t>) with moderate pest risk (</a:t>
            </a:r>
            <a:r>
              <a:rPr lang="en-IN" sz="2000" b="1" dirty="0"/>
              <a:t>40.48%</a:t>
            </a:r>
            <a:r>
              <a:rPr lang="en-IN" sz="2000" dirty="0"/>
              <a:t>).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Zaid Season (Summer):</a:t>
            </a:r>
            <a:r>
              <a:rPr lang="en-IN" sz="2000" dirty="0"/>
              <a:t> Lowest average yield (</a:t>
            </a:r>
            <a:r>
              <a:rPr lang="en-IN" sz="2000" b="1" dirty="0"/>
              <a:t>4.64 t/ha</a:t>
            </a:r>
            <a:r>
              <a:rPr lang="en-IN" sz="2000" dirty="0"/>
              <a:t>) resulting in net operating losses (</a:t>
            </a:r>
            <a:r>
              <a:rPr lang="en-IN" sz="2000" b="1" dirty="0"/>
              <a:t>-₹24,804.82 / farm</a:t>
            </a:r>
            <a:r>
              <a:rPr lang="en-IN" sz="2000" dirty="0"/>
              <a:t>) due to heat stress and water scarcity.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26B3C4-8B22-0714-2922-8F06DE556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50" y="4368749"/>
            <a:ext cx="6481488" cy="22962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08BE4E-3E79-B95F-F34D-70CCF9F9F0CD}"/>
              </a:ext>
            </a:extLst>
          </p:cNvPr>
          <p:cNvSpPr txBox="1"/>
          <p:nvPr/>
        </p:nvSpPr>
        <p:spPr>
          <a:xfrm>
            <a:off x="675957" y="1275371"/>
            <a:ext cx="4286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latin typeface="Arial Black" panose="020B0A04020102020204" pitchFamily="34" charset="0"/>
              </a:rPr>
              <a:t>Seasonal Comparison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6685" y="1201586"/>
            <a:ext cx="5705779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Arial Black" panose="020B0A04020102020204" pitchFamily="34" charset="0"/>
              </a:rPr>
              <a:t>2. Crop Financial Performance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747C03-3339-0C71-5A74-B0C34149F89B}"/>
              </a:ext>
            </a:extLst>
          </p:cNvPr>
          <p:cNvSpPr txBox="1"/>
          <p:nvPr/>
        </p:nvSpPr>
        <p:spPr>
          <a:xfrm>
            <a:off x="656685" y="1801605"/>
            <a:ext cx="934793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High-Value Cash Crops: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Sugarcane:</a:t>
            </a:r>
            <a:r>
              <a:rPr lang="en-IN" dirty="0"/>
              <a:t> Highest volume output (</a:t>
            </a:r>
            <a:r>
              <a:rPr lang="en-IN" b="1" dirty="0"/>
              <a:t>119,685.97 total tonnes</a:t>
            </a:r>
            <a:r>
              <a:rPr lang="en-IN" dirty="0"/>
              <a:t>) with an average profit of </a:t>
            </a:r>
            <a:r>
              <a:rPr lang="en-IN" b="1" dirty="0"/>
              <a:t>₹817,187.99 per farm</a:t>
            </a:r>
            <a:r>
              <a:rPr lang="en-IN" dirty="0"/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Chilli:</a:t>
            </a:r>
            <a:r>
              <a:rPr lang="en-IN" dirty="0"/>
              <a:t> High market realizations yielding </a:t>
            </a:r>
            <a:r>
              <a:rPr lang="en-IN" b="1" dirty="0"/>
              <a:t>₹750,878.34 average profit per farm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Low-Margin Food </a:t>
            </a:r>
            <a:r>
              <a:rPr lang="en-IN" sz="2000" b="1" dirty="0"/>
              <a:t>Grains</a:t>
            </a:r>
            <a:r>
              <a:rPr lang="en-IN" b="1" dirty="0"/>
              <a:t>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Staple grains operate at average net losses under standard pricing: Wheat (</a:t>
            </a:r>
            <a:r>
              <a:rPr lang="en-IN" b="1" dirty="0"/>
              <a:t>-₹123,398.34</a:t>
            </a:r>
            <a:r>
              <a:rPr lang="en-IN" dirty="0"/>
              <a:t>), Rice (</a:t>
            </a:r>
            <a:r>
              <a:rPr lang="en-IN" b="1" dirty="0"/>
              <a:t>-₹102,213.50</a:t>
            </a:r>
            <a:r>
              <a:rPr lang="en-IN" dirty="0"/>
              <a:t>), and Maize (</a:t>
            </a:r>
            <a:r>
              <a:rPr lang="en-IN" b="1" dirty="0"/>
              <a:t>-₹83,978.33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0F2741-2E3A-EA46-2CC7-E1369881B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56" y="3931310"/>
            <a:ext cx="4589469" cy="280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037699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1513" y="1201586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Arial Black" panose="020B0A04020102020204" pitchFamily="34" charset="0"/>
              </a:rPr>
              <a:t>3. Irrigation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C9D26E-2C31-C03D-EF38-897B49C53041}"/>
                  </a:ext>
                </a:extLst>
              </p:cNvPr>
              <p:cNvSpPr txBox="1"/>
              <p:nvPr/>
            </p:nvSpPr>
            <p:spPr>
              <a:xfrm>
                <a:off x="675957" y="1752891"/>
                <a:ext cx="9063266" cy="2333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Drip Irrigation:</a:t>
                </a:r>
                <a:r>
                  <a:rPr lang="en-IN" dirty="0"/>
                  <a:t> Highest average water efficiency (</a:t>
                </a:r>
                <a:r>
                  <a:rPr lang="en-IN" b="1" dirty="0"/>
                  <a:t>6.27 tonnes /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1,000 </m:t>
                    </m:r>
                    <m:sSup>
                      <m:sSupPr>
                        <m:ctrlPr>
                          <a:rPr lang="en-IN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i="0"/>
                          <m:t>m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) and mean profitability (</a:t>
                </a:r>
                <a:r>
                  <a:rPr lang="en-IN" b="1" dirty="0"/>
                  <a:t>₹219,625.99 per farm</a:t>
                </a:r>
                <a:r>
                  <a:rPr lang="en-IN" dirty="0"/>
                  <a:t>).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Flood Irrigation:</a:t>
                </a:r>
                <a:r>
                  <a:rPr lang="en-IN" dirty="0"/>
                  <a:t> Inefficient water consumption (</a:t>
                </a:r>
                <a:r>
                  <a:rPr lang="en-IN" b="1" dirty="0"/>
                  <a:t>8,026.47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i="0"/>
                          <m:t>m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b="1" dirty="0"/>
                  <a:t>/ farm</a:t>
                </a:r>
                <a:r>
                  <a:rPr lang="en-IN" dirty="0"/>
                  <a:t>) and lowest efficiency (</a:t>
                </a:r>
                <a:r>
                  <a:rPr lang="en-IN" b="1" dirty="0"/>
                  <a:t>3.44 tonnes /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1,000 </m:t>
                    </m:r>
                    <m:sSup>
                      <m:sSupPr>
                        <m:ctrlPr>
                          <a:rPr lang="en-IN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i="0"/>
                          <m:t>m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), yielding </a:t>
                </a:r>
                <a:r>
                  <a:rPr lang="en-IN" b="1" dirty="0"/>
                  <a:t>₹73,354.02 average profit</a:t>
                </a:r>
                <a:r>
                  <a:rPr lang="en-IN" dirty="0"/>
                  <a:t>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Sprinkler Irrigation:</a:t>
                </a:r>
                <a:r>
                  <a:rPr lang="en-IN" dirty="0"/>
                  <a:t> Balanced performance yielding </a:t>
                </a:r>
                <a:r>
                  <a:rPr lang="en-IN" b="1" dirty="0"/>
                  <a:t>₹91,121.08 average profit</a:t>
                </a:r>
                <a:r>
                  <a:rPr lang="en-IN" dirty="0"/>
                  <a:t>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b="1" dirty="0"/>
                  <a:t>Rainfed:</a:t>
                </a:r>
                <a:r>
                  <a:rPr lang="en-IN" dirty="0"/>
                  <a:t> Shows high statistical water efficiency (</a:t>
                </a:r>
                <a:r>
                  <a:rPr lang="en-IN" b="1" dirty="0"/>
                  <a:t>7.56 tonnes /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1,000 </m:t>
                    </m:r>
                    <m:sSup>
                      <m:sSupPr>
                        <m:ctrlPr>
                          <a:rPr lang="en-IN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i="0"/>
                          <m:t>m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IN" dirty="0"/>
                  <a:t>) due to minimal recorded irrigation draws, but remains vulnerable to rainfall variations.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C9D26E-2C31-C03D-EF38-897B49C53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57" y="1752891"/>
                <a:ext cx="9063266" cy="2333203"/>
              </a:xfrm>
              <a:prstGeom prst="rect">
                <a:avLst/>
              </a:prstGeom>
              <a:blipFill>
                <a:blip r:embed="rId3"/>
                <a:stretch>
                  <a:fillRect l="-471" t="-1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0105F40-7A2E-AF23-22FB-F16834C8B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40" y="3893054"/>
            <a:ext cx="3662083" cy="21680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345729-3C1D-53D2-66C2-4469A7BEA9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3236" y="4071250"/>
            <a:ext cx="5246341" cy="208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201586"/>
            <a:ext cx="7077380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Arial Black" panose="020B0A04020102020204" pitchFamily="34" charset="0"/>
              </a:rPr>
              <a:t>4. </a:t>
            </a:r>
            <a:r>
              <a:rPr lang="en-IN" sz="2400" dirty="0">
                <a:latin typeface="Arial Black" panose="020B0A04020102020204" pitchFamily="34" charset="0"/>
              </a:rPr>
              <a:t>Disease Risk &amp; Feature Correlations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ADBAC5-540D-3F54-1FA5-8B97262ABD8E}"/>
                  </a:ext>
                </a:extLst>
              </p:cNvPr>
              <p:cNvSpPr txBox="1"/>
              <p:nvPr/>
            </p:nvSpPr>
            <p:spPr>
              <a:xfrm>
                <a:off x="675957" y="1752891"/>
                <a:ext cx="8477669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Correlation Metrics:</a:t>
                </a:r>
                <a:r>
                  <a:rPr lang="en-IN" sz="2000" dirty="0"/>
                  <a:t> Strong positive correlation between yield and water efficiency (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=0.92</m:t>
                    </m:r>
                  </m:oMath>
                </a14:m>
                <a:r>
                  <a:rPr lang="en-IN" sz="2000" dirty="0"/>
                  <a:t>), and between revenue and net profit (</a:t>
                </a:r>
                <a14:m>
                  <m:oMath xmlns:m="http://schemas.openxmlformats.org/officeDocument/2006/math"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000">
                        <a:latin typeface="Cambria Math" panose="02040503050406030204" pitchFamily="18" charset="0"/>
                      </a:rPr>
                      <m:t>=0.89</m:t>
                    </m:r>
                  </m:oMath>
                </a14:m>
                <a:r>
                  <a:rPr lang="en-IN" sz="2000" dirty="0"/>
                  <a:t>).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Rainfall &amp; Risk:</a:t>
                </a:r>
                <a:r>
                  <a:rPr lang="en-IN" sz="2000" dirty="0"/>
                  <a:t> Rainfall shows a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0.62</m:t>
                    </m:r>
                  </m:oMath>
                </a14:m>
                <a:r>
                  <a:rPr lang="en-IN" sz="2000" dirty="0"/>
                  <a:t>correlation with disease/pest risk percentage.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Disease Impact:</a:t>
                </a:r>
                <a:r>
                  <a:rPr lang="en-IN" sz="2000" dirty="0"/>
                  <a:t> Severe risk levels (Q4) correlate with higher pesticide use (</a:t>
                </a:r>
                <a:r>
                  <a:rPr lang="en-IN" sz="2000" b="1" dirty="0"/>
                  <a:t>&gt;7 L/ha</a:t>
                </a:r>
                <a:r>
                  <a:rPr lang="en-IN" sz="2000" dirty="0"/>
                  <a:t>) without proportional yield gains.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9ADBAC5-540D-3F54-1FA5-8B97262AB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957" y="1752891"/>
                <a:ext cx="8477669" cy="2554545"/>
              </a:xfrm>
              <a:prstGeom prst="rect">
                <a:avLst/>
              </a:prstGeom>
              <a:blipFill>
                <a:blip r:embed="rId3"/>
                <a:stretch>
                  <a:fillRect l="-647" t="-16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1DC8EB25-3AE6-7BBE-0D78-D2213E088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682" y="4112406"/>
            <a:ext cx="6278110" cy="2554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130890"/>
            <a:ext cx="6007704" cy="4775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Arial Black" panose="020B0A04020102020204" pitchFamily="34" charset="0"/>
              </a:rPr>
              <a:t>5. Code &amp; Visualization Highlights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00BCC9-7C96-0680-E001-4A7F41211617}"/>
              </a:ext>
            </a:extLst>
          </p:cNvPr>
          <p:cNvSpPr txBox="1"/>
          <p:nvPr/>
        </p:nvSpPr>
        <p:spPr>
          <a:xfrm>
            <a:off x="675957" y="1818511"/>
            <a:ext cx="73034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Univariate Charts:</a:t>
            </a:r>
            <a:r>
              <a:rPr lang="en-IN" dirty="0"/>
              <a:t> Crop distribution and season frequency counts.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Scatter Plot:</a:t>
            </a:r>
            <a:r>
              <a:rPr lang="en-IN" dirty="0"/>
              <a:t> Fertilizer dosage vs. crop yield across crop types.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Heatmap:</a:t>
            </a:r>
            <a:r>
              <a:rPr lang="en-IN" dirty="0"/>
              <a:t> Correlation matrix of agronomic and financial features.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Bar Chart:</a:t>
            </a:r>
            <a:r>
              <a:rPr lang="en-IN" dirty="0"/>
              <a:t> Mean profitability by irrigation method across Kharif, Rabi, and Zaid seasons. 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61F959-27E4-AA3E-EA59-E77B2F7D0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02" y="3988001"/>
            <a:ext cx="5868838" cy="20944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CAF701-C635-0330-80FE-3EE75CAF9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670" y="3614467"/>
            <a:ext cx="5247737" cy="314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A78E2-4F2F-F940-B686-B2C4C6CDA7D6}"/>
              </a:ext>
            </a:extLst>
          </p:cNvPr>
          <p:cNvSpPr txBox="1"/>
          <p:nvPr/>
        </p:nvSpPr>
        <p:spPr>
          <a:xfrm>
            <a:off x="675957" y="1344362"/>
            <a:ext cx="83731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Predictive Machine Learning:</a:t>
            </a:r>
            <a:r>
              <a:rPr lang="en-IN" sz="2400" dirty="0"/>
              <a:t> Train machine learning models (e.g., Random Forest, </a:t>
            </a:r>
            <a:r>
              <a:rPr lang="en-IN" sz="2400" dirty="0" err="1"/>
              <a:t>XGBoost</a:t>
            </a:r>
            <a:r>
              <a:rPr lang="en-IN" sz="2400" dirty="0"/>
              <a:t>) for real-time yield prediction and profit forecasting.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IoT Sensor Integration:</a:t>
            </a:r>
            <a:r>
              <a:rPr lang="en-IN" sz="2400" dirty="0"/>
              <a:t> Incorporate live soil moisture and weather telemetry to automate drip irrigation delivery.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Web Dashboard:</a:t>
            </a:r>
            <a:r>
              <a:rPr lang="en-IN" sz="2400" dirty="0"/>
              <a:t> Build an interactive </a:t>
            </a:r>
            <a:r>
              <a:rPr lang="en-IN" sz="2400" dirty="0" err="1"/>
              <a:t>Streamlit</a:t>
            </a:r>
            <a:r>
              <a:rPr lang="en-IN" sz="2400" dirty="0"/>
              <a:t> or Dash application to support real-time crop planning and scenario testing.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b="1" dirty="0"/>
              <a:t>Market Integration:</a:t>
            </a:r>
            <a:r>
              <a:rPr lang="en-IN" sz="2400" dirty="0"/>
              <a:t> Connect live wholesale price feeds to advise farmers on crop selection based on market conditions</a:t>
            </a:r>
          </a:p>
          <a:p>
            <a:pPr marL="342900" indent="-342900">
              <a:buFont typeface="+mj-lt"/>
              <a:buAutoNum type="arabicPeriod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675957" y="2190819"/>
            <a:ext cx="93895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https://github.com/Awazali123/Seasonal_Agriculture_Performance_Yield_Optimizatio_Analysis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83EE8D-F0D6-4AFD-C76A-7BBAA2FF9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441" y="1478142"/>
            <a:ext cx="7843904" cy="519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4960" y="2441508"/>
            <a:ext cx="4657095" cy="169327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1430</TotalTime>
  <Words>866</Words>
  <Application>Microsoft Office PowerPoint</Application>
  <PresentationFormat>Widescreen</PresentationFormat>
  <Paragraphs>69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Trebuchet MS</vt:lpstr>
      <vt:lpstr>Wingdings</vt:lpstr>
      <vt:lpstr>Wingdings 3</vt:lpstr>
      <vt:lpstr>Facet</vt:lpstr>
      <vt:lpstr>Project Title -Seasonal Agriculture Performance Analysis 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Mr._ALI_ 😎❤️</cp:lastModifiedBy>
  <cp:revision>100</cp:revision>
  <dcterms:created xsi:type="dcterms:W3CDTF">2021-07-11T13:13:15Z</dcterms:created>
  <dcterms:modified xsi:type="dcterms:W3CDTF">2026-09-09T17:33:06Z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